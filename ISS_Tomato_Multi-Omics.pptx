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README.md; manuscript/latex/main.tex.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manuscript/latex/main.tex (Methods); supplementary_tables/Table_S1_sample_metadata_rnaseq.csv; microbiome/track_stats_16S.tsv and track_stats_ITS.tsv (sample counts).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README.md (pipeline table, software versions); microbiome/RERUN_2026-10-15.md; rnaseq/RERUN_2026-10-14.md; renv.lock.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microbiome/community_health/beta_diversity_permanova_{16S,ITS}.tsv (Table S4; terms added sequentially: flight, light, flight × light); alpha_diversity_16S.tsv (group means of Observed ASVs).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microbiome/community_health/dysbiosis_index_{16S,ITS}.tsv (means ± SD of leaf samples). Ground indices average 1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microbiome/community_health/aldex2_results_*_flight.tsv (BH-adjusted Welch p &lt; 0.05 and |effect| &gt; 1; positive = higher in flight); taxonomy bootstrap support from the seeded DADA2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rnaseq/degs_summary.tsv (Table S2); DEGs: adjusted p &lt; 0.05 and |log2FC| ≥ 1. Main effects are averaged over the other factor (rnaseq/RERUN_2026-10-14.md).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rnaseq/wgcna_{Leaf,Adv-Root}/module_trait_correlations.tsv (Pearson r; per-trait n); integration/networks/module_directionality.tsv (Table S5); microbiome/RERUN_2026-10-15.md.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integration/networks/module_taxon_correlations.tsv (Spearman ρ, BH-adjusted; Table S9).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integration/factor_variance_explained.tsv; integration/factor_trait_correlations.tsv (Table S8; Spearman, BH-adjusted).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microbiome/functional/faprotax_report_16S.tsv (Table S6; FAPROTAX 1.2.12, hyphens as word separators); microbiome/functional/funguild_summary_ITS.tsv (Table S7).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manuscript/latex/main.tex (Limitations); microbiome/RERUN_2026-10-15.md (caveats).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README.md; LICENSE.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Integrated multi-omics of ISS VEG-05 tomatoes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6B7280"/>
                </a:solidFill>
              </a:rPr>
              <a:t>Leaf and root microbiome (OSD-766) and host transcriptome (OSD-767) of tomato grown on the ISS under red-rich and blue-rich light</a:t>
            </a:r>
          </a:p>
        </p:txBody>
      </p:sp>
      <p:pic>
        <p:nvPicPr>
          <p:cNvPr id="5" name="Picture 4" descr="fig1_study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91" y="2377440"/>
            <a:ext cx="6897738" cy="3566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</a:rPr>
              <a:t>Data: NASA OSDR OSD-766 and OSD-767 (Spern et al. 2026; Dixit et al. 2026). Analyses re-run and checked in October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Tomato cv. Red Robin grown on the ISS (VEG-05), with ground controls at Kennedy Space Center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Red-rich (90% red : 10% blue) or blue-rich (50% red : 50% blue) LED light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RNA-seq: 36 samples (21 leaf, 15 adventitious root)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Amplicon sequencing: 16S from 142 samples and ITS from 141, across leaf, root, adventitious root, wick, soil and other compartments</a:t>
            </a:r>
          </a:p>
        </p:txBody>
      </p:sp>
      <p:pic>
        <p:nvPicPr>
          <p:cNvPr id="7" name="Picture 6" descr="fig1_study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23789"/>
            <a:ext cx="5303520" cy="27419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DADA2: 348 bacterial ASVs (after removing chloroplast and mitochondrial ASVs) and 78 fungal ASVs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DESeq2 (flight × light model), WGCNA co-expression modules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PERMANOVA, dysbiosis index and ALDEx2 for the microbiome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MOFA+ and module–taxon correlation networks for integration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FAPROTAX 1.2.12 for bacterial functions; genus-level FUNGuild categories for fungi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Re-run in October 2026 (R 4.6.1, Bioconductor 3.23; renv.lock). The 16S results reproduce the original run exactly; ITS differs slightly (78 vs 77 ASVs) with newer DADA2 and UNITE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Spaceflight changes leaf bacterial and fungal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PERMANOVA, flight term: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</a:rPr>
              <a:t>– leaf bacteria R² 0.28 (p 0.001), leaf fungi R² 0.36 (p 0.007)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</a:rPr>
              <a:t>– adventitious-root bacteria R² 0.29 (p 0.001), fungi R² 0.40 (p 0.001)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Light had no significant main effect except on root fungi (R² 0.19, p 0.005)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Flight × light interaction: bacteria in both tissues (R² 0.11) and root fungi (R² 0.16)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Flight leaves had more bacterial ASVs: group means 17.8–25.8 vs 10.0–15.2 in ground leaves</a:t>
            </a:r>
          </a:p>
        </p:txBody>
      </p:sp>
      <p:pic>
        <p:nvPicPr>
          <p:cNvPr id="7" name="Picture 6" descr="fig2a_alpha_diversity_1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3741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Flight communities are displaced from ground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Dysbiosis index: mean Bray–Curtis distance to ground samples ÷ mean distance among ground samples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Leaf bacteria: flight 2.06 ± 0.99 vs ground 1.00 ± 0.47.  Leaf fungi: flight 3.69 ± 2.78 vs ground 1.00 ± 0.22</a:t>
            </a:r>
          </a:p>
        </p:txBody>
      </p:sp>
      <p:pic>
        <p:nvPicPr>
          <p:cNvPr id="7" name="Picture 6" descr="fig2b_dysbiosis_1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3017520"/>
            <a:ext cx="3950208" cy="3291840"/>
          </a:xfrm>
          <a:prstGeom prst="rect">
            <a:avLst/>
          </a:prstGeom>
        </p:spPr>
      </p:pic>
      <p:pic>
        <p:nvPicPr>
          <p:cNvPr id="8" name="Picture 7" descr="fig2b_dysbiosis_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3017520"/>
            <a:ext cx="3950208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Few taxa differ in abundance, all higher in flight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ALDEx2, BH-adjusted p &lt; 0.05 and |effect| &gt; 1: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– Leaf: an Erwiniaceae ASV (ASV024, effect +1.10; Pantoea at 49% bootstrap support) and Penicillium citrinum (ASV003, +1.90)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– Adventitious root: Burkholderia-Caballeronia-Paraburkholderia (ASV004, +1.58), Rhizobiaceae (ASV021, +3.25), Dyadobacter (ASV022, +2.22)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A Fusarium ASV in roots (+1.91) narrowly missed the threshold (adjusted p 0.053)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The leaf transcriptional response to flight depends on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Leaf: 4,716 DEGs under blue-rich light vs 523 under red-rich light (separate models); 3,189 genes with a flight × light interaction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Leaf flight main effect (averaged over light): 2,683 DEGs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Adventitious root flight main effect: 1,501 DEGs, 83% up; interaction: 6 DEGs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DEG: adjusted p &lt; 0.05 and |log2 fold change| ≥ 1</a:t>
            </a:r>
          </a:p>
        </p:txBody>
      </p:sp>
      <p:pic>
        <p:nvPicPr>
          <p:cNvPr id="7" name="Picture 6" descr="fig3_deg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03704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WGCNA: one root module tracks fungal dysbiosis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• Leaf: 12 modules; turquoise (2,037 genes) correlates with flight (r = +0.73)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• Root: 16 modules; black (169 genes) correlates with ITS dysbiosis (r = −0.85, adjusted p 0.009, 12 plants) but not with flight (r = −0.38, adjusted p 0.32)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• Caveat: the ITS dysbiosis index itself correlates with flight (r = 0.71); the black-module correlation holds within flight (r = −0.87) and within ground (r = −0.75) plants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• Classed as "microbe-driven"; its only enriched GO term is "nucleus"</a:t>
            </a:r>
          </a:p>
        </p:txBody>
      </p:sp>
      <p:pic>
        <p:nvPicPr>
          <p:cNvPr id="7" name="Picture 6" descr="fig4_module_traits_AdvR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087" y="1188720"/>
            <a:ext cx="342622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Host modules correlate with specific bacteria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31 significant module–taxon correlations (adjusted p &lt; 0.05): 28 in leaf 16S, 3 in root ITS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Flight-associated leaf turquoise module: Methylobacterium-Methylorubrum (ρ = +0.76), Burkholderia-Caballeronia-Paraburkholderia (+0.74), Azospirillum (+0.68)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Roots: a Fusarium ASV with the blue (ρ = −0.93) and turquoise (ρ = +0.91) modules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These are correlations; they do not show which side drives the other</a:t>
            </a:r>
          </a:p>
        </p:txBody>
      </p:sp>
      <p:pic>
        <p:nvPicPr>
          <p:cNvPr id="7" name="Picture 6" descr="fig6_module_tax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10403"/>
            <a:ext cx="5303520" cy="4168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MOFA+: a shared factor tracks flight, and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18 leaf samples with RNA-seq, 16S and ITS from the same leaf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Factor 1 explains 44% of transcriptome, 9% of 16S and 7% of ITS variance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Factor 1 correlates with flight (ρ = −0.68, adjusted p 0.037) and with light (ρ = +0.63, adjusted p 0.053)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Only one flight blue-light leaf has ITS data, so flight and light are partly confounded here</a:t>
            </a:r>
          </a:p>
        </p:txBody>
      </p:sp>
      <p:pic>
        <p:nvPicPr>
          <p:cNvPr id="7" name="Picture 6" descr="fig5b_mofa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00646"/>
            <a:ext cx="5303520" cy="37882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Predicted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FAPROTAX 1.2.12: 205 of 348 bacterial ASVs in 44 functional groups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Largest by reads: chemoheterotrophy, ureolysis, nitrogen fixation, methylotrophy and methanol oxidation (mostly Methylobacterium-Methylorubrum); methanotrophy is minor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Fungi (genus-level FUNGuild categories): 11 saprotroph ASVs (Penicillium, Aspergillus), 2 plant-pathogen ASVs (Fusarium)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• Predicted from taxonomy, not measured</a:t>
            </a:r>
          </a:p>
        </p:txBody>
      </p:sp>
      <p:pic>
        <p:nvPicPr>
          <p:cNvPr id="7" name="Picture 6" descr="fig7_faprot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0594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Small samples: 21 leaf and 15 root RNA-seq samples; 1–6 microbiome samples per flight × light group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Leaf 16S: median 89 bacterial reads after removing plant reads; two flight root ITS samples kept one read each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The ITS re-run differs slightly from the original run (newer DADA2 and UNITE versions)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Three ground root samples were relabelled red-rich, resolving a conflict in the OSD-766 metadata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All host–microbe associations are correlational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</a:rPr>
              <a:t>Code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VEG-05 integrated omics · github.com/dr-richard-barker/veg05-integrated-omics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Code: github.com/dr-richard-barker/veg05-integrated-omics (MIT licence)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Site: dr-richard-barker.github.io/veg05-integrated-omics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Data: NASA Open Science Data Repository, OSD-766 and OSD-767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Re-run records: rnaseq/RERUN_2026-10-14.md and microbiome/RERUN_2026-10-15.md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• This deck is built from the repository by build_slides.py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